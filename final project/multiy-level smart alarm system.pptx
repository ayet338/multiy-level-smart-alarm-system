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94" r:id="rId19"/>
    <p:sldId id="273" r:id="rId20"/>
    <p:sldId id="277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ar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0702E-9A7F-EA2D-750D-EB8CCF109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85D51-93AA-AD3F-A65A-ED6205162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B0467-F5D3-5CDB-6E24-CB8328B7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17/07/1447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CE587-2FF5-7FB8-9D63-CC4EF2254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6EEF9-7149-D1D5-83BD-9FA2AB5A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2330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1A6A-D5FC-4055-5689-BD4B1076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3E31E-0792-CA09-868B-F9695FDC0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D221F-5FD9-F869-4856-DCA3E6EA4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17/07/1447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44B67-C24E-B097-A8FA-A7683C3C5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2E4C0-9BA6-99CD-C50E-9F2AE6F83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1401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DF3C-C1AA-5E99-EA12-8FD23BF77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7582D-2670-049C-BF0A-9337AB61D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3884E-C1C0-8CDD-E42C-DBD8E7B3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17/07/1447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75B7E-541A-F9C9-5684-0C686763F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5EDE-3AA0-5738-7E00-3708744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04095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33C4-C1DF-834A-FA65-A898E15C6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71DED-07D6-F4B0-6963-5F907A60C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31F7F-B96F-4515-820E-250EF73FA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262EE-C5A9-B41C-2CAC-C726BF708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17/07/1447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A6A15-6051-0950-AB7F-352CED1D1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9C36A-C8EF-80EC-3E45-D8A9A37AE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61934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EA83E-B70B-85A1-589F-0E9A0FB14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53A59-66CA-0164-44AB-76B0BECEA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B4F5D-B013-1357-5A3F-E6CCC8A26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A1FA0-A81B-AF8D-9AC1-8D342AFCF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82F028-C9E1-0826-BAAC-85690F117D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BFCEE-F8DA-CC78-48BB-5BABFEA81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17/07/1447</a:t>
            </a:fld>
            <a:endParaRPr lang="ar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ED89AE-2784-7F06-C324-2277C79B3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CCDEE-1D88-14C7-8D1A-7CF52BA1B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0798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2E5E-0096-56E5-02C0-52CABECF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372D2A-15A7-EDAA-B51A-3655C4DBE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17/07/1447</a:t>
            </a:fld>
            <a:endParaRPr lang="ar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9B406-08C1-9704-65AE-8353C61F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D55FC-2A45-C3CC-34D1-E8971CA2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1594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9F9A2C-6FD0-DB02-DA88-7DF853B6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17/07/1447</a:t>
            </a:fld>
            <a:endParaRPr lang="ar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6A734-C1FA-4443-97F8-D57A976D4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552F1-9193-EB05-9422-A2A58FA5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3688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2796F-2DA6-450E-E38D-8F29BFD6F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F090A-AA88-A4D2-65B5-C61F6EDC8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FB53D-6252-803C-65AC-6D6C116A1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F1BD9-A880-54E0-46C4-46464C6E3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17/07/1447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EFAA2-9C65-2C8B-B1F8-CCA28B8C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5552B-C11B-D5D9-43B0-B2987B52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9050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E5065-B6B6-A0DE-4F40-EEC01D595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6A4829-3C00-9CB7-6BAC-ED78AE7E3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384D1-1A34-5D69-9610-CC75C0A82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ADB38-14DC-3DE7-60F0-1722A843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17/07/1447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C7B55-E6B9-97AA-017E-F23F60188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133DD-5758-9155-4422-06EF96EDB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16743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35B9-5488-B9D4-B8B2-95CCFC8BC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46F935-329A-C70E-A762-68711F896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8804D-CDAF-1B34-77B7-8AD28957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17/07/1447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CC794-7911-B32A-4A6B-CB848B466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59414-2DC0-2794-D442-536A3D4F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2514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26C280-79A6-31BD-E779-74607F126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D81D1-0D36-0F0F-C237-2204B1ADF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114DC-BF9A-FE17-406A-DEEBF45C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17/07/1447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0488D-C2CE-A908-C8F5-376C5D7DE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1B7F0-1F53-73CD-6F38-732AF510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39307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EF26D-893A-5543-416D-8593427C4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3FA76-8ACF-AAA0-CC93-16316DA28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6DFDC-7776-D80A-0B05-F31482C5D7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C61C6-38CB-4204-91DA-D5C1B5D225DE}" type="datetimeFigureOut">
              <a:rPr lang="ar-SA" smtClean="0"/>
              <a:t>17/07/1447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E21F3-10A0-B422-7B78-E26CF6AFD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563C-FB18-7FFE-D78D-2DA58B82C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1806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66EA4-F787-029F-508E-291B3C9632E5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>
                <a:latin typeface="+mj-lt"/>
                <a:ea typeface="+mj-ea"/>
                <a:cs typeface="+mj-cs"/>
              </a:rPr>
              <a:t>Multi-Level Smart Alarm System</a:t>
            </a: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074285-1286-770E-AF23-E6EF9282079D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Professor</a:t>
            </a:r>
            <a:r>
              <a:rPr lang="en-US" sz="2000" dirty="0"/>
              <a:t>: Ahmet Gurhanli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Team Member: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Asma </a:t>
            </a:r>
            <a:r>
              <a:rPr lang="en-US" sz="2000" dirty="0" err="1"/>
              <a:t>Atiah</a:t>
            </a:r>
            <a:r>
              <a:rPr lang="en-US" sz="2000" dirty="0"/>
              <a:t> – 22040102149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Shahd Atayturkmen-22040102137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Ayet </a:t>
            </a:r>
            <a:r>
              <a:rPr lang="en-US" sz="2000" dirty="0"/>
              <a:t>Selim – 22040102159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Malak Medhat - 22040102054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7" name="Picture 6" descr="A computer chip with blue lights&#10;&#10;AI-generated content may be incorrect.">
            <a:extLst>
              <a:ext uri="{FF2B5EF4-FFF2-40B4-BE49-F238E27FC236}">
                <a16:creationId xmlns:a16="http://schemas.microsoft.com/office/drawing/2014/main" id="{A3BBB9B2-6F05-CFF7-91F6-8D01588E3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0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93270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F1AE31-2E28-ACDF-EB20-62687FCDAF1B}"/>
              </a:ext>
            </a:extLst>
          </p:cNvPr>
          <p:cNvSpPr txBox="1"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General Idea: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4" descr="3d Microprocessor Chip PNG Transparent Images Free Download | Vector Files  | Pngtree">
            <a:extLst>
              <a:ext uri="{FF2B5EF4-FFF2-40B4-BE49-F238E27FC236}">
                <a16:creationId xmlns:a16="http://schemas.microsoft.com/office/drawing/2014/main" id="{5901FC20-C415-2350-B449-6243959C42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The </a:t>
            </a:r>
            <a:r>
              <a:rPr lang="en-US" sz="1500" b="1" dirty="0"/>
              <a:t>Multi-Level Smart Alarm System (ML-SAS)</a:t>
            </a:r>
            <a:r>
              <a:rPr lang="en-US" sz="1500" dirty="0"/>
              <a:t> is an advanced 8-bit embedded security solution powered by the </a:t>
            </a:r>
            <a:r>
              <a:rPr lang="en-US" sz="1500" b="1" dirty="0"/>
              <a:t>DMC8</a:t>
            </a:r>
            <a:r>
              <a:rPr lang="en-US" sz="1500" dirty="0"/>
              <a:t> microcomputer. It is designed to provide dynamic security responses based on the user's environment through three distinct operating levels: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Normal/Home Mode:</a:t>
            </a:r>
            <a:r>
              <a:rPr lang="en-US" sz="1500" dirty="0"/>
              <a:t> Monitors basic security parameters with visual status feedback.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Travel/Vacation Mode:</a:t>
            </a:r>
            <a:r>
              <a:rPr lang="en-US" sz="1500" dirty="0"/>
              <a:t> Enhances sensitivity and activates presence simulation to protect the premises during long absences.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Emergency Mode:</a:t>
            </a:r>
            <a:r>
              <a:rPr lang="en-US" sz="1500" dirty="0"/>
              <a:t> A high-priority interrupt state for immediate threat response with synchronized audio-visual alarms.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7" name="Picture 6" descr="A computer diagram of a computer chip&#10;&#10;AI-generated content may be incorrect.">
            <a:extLst>
              <a:ext uri="{FF2B5EF4-FFF2-40B4-BE49-F238E27FC236}">
                <a16:creationId xmlns:a16="http://schemas.microsoft.com/office/drawing/2014/main" id="{B07F4FF0-A199-EFBD-BC44-AABC899E0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98133"/>
            <a:ext cx="5458968" cy="3261733"/>
          </a:xfrm>
          <a:prstGeom prst="rect">
            <a:avLst/>
          </a:prstGeom>
        </p:spPr>
      </p:pic>
      <p:sp>
        <p:nvSpPr>
          <p:cNvPr id="5" name="AutoShape 6" descr="3d Microprocessor Chip PNG Transparent Images Free Download | Vector Files  | Pngtree">
            <a:extLst>
              <a:ext uri="{FF2B5EF4-FFF2-40B4-BE49-F238E27FC236}">
                <a16:creationId xmlns:a16="http://schemas.microsoft.com/office/drawing/2014/main" id="{D8B4B041-77CB-CFC6-EFB3-354702CBC7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5920" y="3276600"/>
            <a:ext cx="2062480" cy="206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2767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3B8E4-91E5-742A-AEAA-CEBAF570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Input Ports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B982199-15F4-11A0-79A1-A3FF1964F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ar-SA" sz="2200" b="1" i="0" u="none" strike="noStrike" cap="none" normalizeH="0" baseline="0">
                <a:ln>
                  <a:noFill/>
                </a:ln>
                <a:effectLst/>
              </a:rPr>
              <a:t>IA0 (Emergency):</a:t>
            </a:r>
            <a:r>
              <a:rPr kumimoji="0" lang="en-US" altLang="ar-SA" sz="2200" b="0" i="0" u="none" strike="noStrike" cap="none" normalizeH="0" baseline="0">
                <a:ln>
                  <a:noFill/>
                </a:ln>
                <a:effectLst/>
              </a:rPr>
              <a:t> High-priority trigger for immediate danger.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ar-SA" sz="2200" b="1" i="0" u="none" strike="noStrike" cap="none" normalizeH="0" baseline="0">
                <a:ln>
                  <a:noFill/>
                </a:ln>
                <a:effectLst/>
              </a:rPr>
              <a:t>IA1 (Travel1 Mode):</a:t>
            </a:r>
            <a:r>
              <a:rPr kumimoji="0" lang="en-US" altLang="ar-SA" sz="2200" b="0" i="0" u="none" strike="noStrike" cap="none" normalizeH="0" baseline="0">
                <a:ln>
                  <a:noFill/>
                </a:ln>
                <a:effectLst/>
              </a:rPr>
              <a:t> Activates the long-term absence protection logic.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ar-SA" sz="2200" b="1" i="0" u="none" strike="noStrike" cap="none" normalizeH="0" baseline="0">
                <a:ln>
                  <a:noFill/>
                </a:ln>
                <a:effectLst/>
              </a:rPr>
              <a:t>IA2-IA5:(SecCODE) </a:t>
            </a:r>
            <a:r>
              <a:rPr kumimoji="0" lang="en-US" altLang="ar-SA" sz="2200" b="0" i="0" u="none" strike="noStrike" cap="none" normalizeH="0" baseline="0">
                <a:ln>
                  <a:noFill/>
                </a:ln>
                <a:effectLst/>
              </a:rPr>
              <a:t>The 4-bit hardware interface for the security passcode (14h).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ar-SA" sz="2200" b="1" i="0" u="none" strike="noStrike" cap="none" normalizeH="0" baseline="0">
                <a:ln>
                  <a:noFill/>
                </a:ln>
                <a:effectLst/>
              </a:rPr>
              <a:t>IA</a:t>
            </a:r>
            <a:r>
              <a:rPr lang="en-US" altLang="ar-SA" sz="2200" b="1"/>
              <a:t>7</a:t>
            </a:r>
            <a:r>
              <a:rPr kumimoji="0" lang="en-US" altLang="ar-SA" sz="2200" b="1" i="0" u="none" strike="noStrike" cap="none" normalizeH="0" baseline="0">
                <a:ln>
                  <a:noFill/>
                </a:ln>
                <a:effectLst/>
              </a:rPr>
              <a:t> (Silent Mode):</a:t>
            </a:r>
            <a:r>
              <a:rPr kumimoji="0" lang="en-US" altLang="ar-SA" sz="2200" b="0" i="0" u="none" strike="noStrike" cap="none" normalizeH="0" baseline="0">
                <a:ln>
                  <a:noFill/>
                </a:ln>
                <a:effectLst/>
              </a:rPr>
              <a:t> Toggles between audible alarms and discrete notifications.</a:t>
            </a:r>
          </a:p>
        </p:txBody>
      </p:sp>
      <p:pic>
        <p:nvPicPr>
          <p:cNvPr id="5" name="Picture 4" descr="A computer diagram of a computer chip&#10;&#10;AI-generated content may be incorrect.">
            <a:extLst>
              <a:ext uri="{FF2B5EF4-FFF2-40B4-BE49-F238E27FC236}">
                <a16:creationId xmlns:a16="http://schemas.microsoft.com/office/drawing/2014/main" id="{C097919B-3BA7-08C5-1075-E2783174C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85" r="72262" b="24592"/>
          <a:stretch>
            <a:fillRect/>
          </a:stretch>
        </p:blipFill>
        <p:spPr>
          <a:xfrm>
            <a:off x="6873454" y="640080"/>
            <a:ext cx="3910156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0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C76D-5490-704B-8B52-3B1E36736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IA0: Emergency Button</a:t>
            </a:r>
          </a:p>
        </p:txBody>
      </p:sp>
      <p:pic>
        <p:nvPicPr>
          <p:cNvPr id="5" name="Picture 4" descr="A computer program code with text&#10;&#10;AI-generated content may be incorrect.">
            <a:extLst>
              <a:ext uri="{FF2B5EF4-FFF2-40B4-BE49-F238E27FC236}">
                <a16:creationId xmlns:a16="http://schemas.microsoft.com/office/drawing/2014/main" id="{80170AED-5BD2-8193-2807-B3D4ADF835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53352"/>
          <a:stretch>
            <a:fillRect/>
          </a:stretch>
        </p:blipFill>
        <p:spPr>
          <a:xfrm>
            <a:off x="3034460" y="1465558"/>
            <a:ext cx="6123079" cy="1180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64215E8-1EFE-762D-F89F-054978614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859" y="2724759"/>
            <a:ext cx="7088279" cy="1977974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9D30B5-8582-F820-A1F8-300C665D1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045" y="4702733"/>
            <a:ext cx="7925906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65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7B95-41CC-DC27-3C7D-B7D22A826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IA1: Travel Mode Explanation</a:t>
            </a:r>
            <a:br>
              <a:rPr lang="en-US" b="1" dirty="0"/>
            </a:br>
            <a:endParaRPr lang="ar-SA" dirty="0"/>
          </a:p>
        </p:txBody>
      </p:sp>
      <p:pic>
        <p:nvPicPr>
          <p:cNvPr id="5" name="Picture 4" descr="A close up of words&#10;&#10;AI-generated content may be incorrect.">
            <a:extLst>
              <a:ext uri="{FF2B5EF4-FFF2-40B4-BE49-F238E27FC236}">
                <a16:creationId xmlns:a16="http://schemas.microsoft.com/office/drawing/2014/main" id="{436A8E2E-B64A-BB1A-073A-47A323DC5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465" y="2642830"/>
            <a:ext cx="9515519" cy="1369140"/>
          </a:xfrm>
          <a:prstGeom prst="rect">
            <a:avLst/>
          </a:prstGeom>
        </p:spPr>
      </p:pic>
      <p:pic>
        <p:nvPicPr>
          <p:cNvPr id="6" name="Picture 5" descr="A computer program code with text&#10;&#10;AI-generated content may be incorrect.">
            <a:extLst>
              <a:ext uri="{FF2B5EF4-FFF2-40B4-BE49-F238E27FC236}">
                <a16:creationId xmlns:a16="http://schemas.microsoft.com/office/drawing/2014/main" id="{E67F5C1A-836C-D8FC-F50B-10B73BD523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925" b="31958"/>
          <a:stretch>
            <a:fillRect/>
          </a:stretch>
        </p:blipFill>
        <p:spPr>
          <a:xfrm>
            <a:off x="345440" y="1467043"/>
            <a:ext cx="10622584" cy="8833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9474C7-DF7A-CD0D-5E81-32BF8A3CA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320" y="4398328"/>
            <a:ext cx="8666823" cy="198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3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2321A-F3D6-1C9D-0957-449268D5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2. IA2–IA5: Security Code (SecCODE)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8F0040-6AA1-02DC-9158-63DBDAB39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889" y="4775345"/>
            <a:ext cx="8800220" cy="1980049"/>
          </a:xfrm>
          <a:prstGeom prst="rect">
            <a:avLst/>
          </a:prstGeom>
        </p:spPr>
      </p:pic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98C6CFE-FD4A-5652-EF88-ED8447D6B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518" y="2912708"/>
            <a:ext cx="7944959" cy="1600423"/>
          </a:xfrm>
          <a:prstGeom prst="rect">
            <a:avLst/>
          </a:prstGeom>
        </p:spPr>
      </p:pic>
      <p:pic>
        <p:nvPicPr>
          <p:cNvPr id="12" name="Picture 11" descr="A computer code with text&#10;&#10;AI-generated content may be incorrect.">
            <a:extLst>
              <a:ext uri="{FF2B5EF4-FFF2-40B4-BE49-F238E27FC236}">
                <a16:creationId xmlns:a16="http://schemas.microsoft.com/office/drawing/2014/main" id="{A3DBFC2D-5A63-D14B-C7AE-679BAB72FF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540"/>
          <a:stretch>
            <a:fillRect/>
          </a:stretch>
        </p:blipFill>
        <p:spPr>
          <a:xfrm>
            <a:off x="2697063" y="1485453"/>
            <a:ext cx="6797870" cy="11650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3599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7BFD1-E821-38F5-7E05-554B1B30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3. IA7: Silent Mode</a:t>
            </a:r>
            <a:br>
              <a:rPr lang="en-GB" b="1" dirty="0"/>
            </a:br>
            <a:endParaRPr lang="ar-SA" dirty="0"/>
          </a:p>
        </p:txBody>
      </p:sp>
      <p:pic>
        <p:nvPicPr>
          <p:cNvPr id="5" name="Picture 4" descr="A close up of text&#10;&#10;AI-generated content may be incorrect.">
            <a:extLst>
              <a:ext uri="{FF2B5EF4-FFF2-40B4-BE49-F238E27FC236}">
                <a16:creationId xmlns:a16="http://schemas.microsoft.com/office/drawing/2014/main" id="{3A74C9B8-EB0A-5758-942F-B81A5027F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57" y="5044873"/>
            <a:ext cx="8135485" cy="1448002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AFD563E-4DEB-F459-5368-3E2222FC8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103" y="3241185"/>
            <a:ext cx="8878227" cy="1635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A2DD88-A8C5-8BBA-D153-89B468945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323" y="1953161"/>
            <a:ext cx="7471353" cy="774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4088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BC911-0400-E91B-E8E7-0329DBF5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4. Data Acquisition: </a:t>
            </a:r>
            <a:endParaRPr lang="ar-S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AC580-F26C-DC70-8687-DA92A2C6E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138" y="3229137"/>
            <a:ext cx="8501287" cy="538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F5C0CA-677D-1417-798B-D2B32CF70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630" y="2134843"/>
            <a:ext cx="8694305" cy="3220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screenshot of a chat&#10;&#10;AI-generated content may be incorrect.">
            <a:extLst>
              <a:ext uri="{FF2B5EF4-FFF2-40B4-BE49-F238E27FC236}">
                <a16:creationId xmlns:a16="http://schemas.microsoft.com/office/drawing/2014/main" id="{0DF93257-133C-A5ED-3404-908FEB324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334" y="4401147"/>
            <a:ext cx="9167332" cy="161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62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400B92-F192-25E0-F875-0B2F53A8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Output Ports:</a:t>
            </a:r>
            <a:b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A0CD5-20E0-141B-63E6-4DBBD89A1A6E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OA2 (Green LED):</a:t>
            </a:r>
            <a:r>
              <a:rPr lang="en-US" sz="1500"/>
              <a:t> Indicates the </a:t>
            </a:r>
            <a:r>
              <a:rPr lang="en-US" sz="1500" b="1"/>
              <a:t>Safe State</a:t>
            </a:r>
            <a:r>
              <a:rPr lang="en-US" sz="1500"/>
              <a:t>; the system is powered on and no intrusion or emergency is detected.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OA1 (Red LED):</a:t>
            </a:r>
            <a:r>
              <a:rPr lang="en-US" sz="1500"/>
              <a:t> High-visibility </a:t>
            </a:r>
            <a:r>
              <a:rPr lang="en-US" sz="1500" b="1"/>
              <a:t>Emergency Alert</a:t>
            </a:r>
            <a:r>
              <a:rPr lang="en-US" sz="1500"/>
              <a:t>; flashes or stays on to signal immediate danger or a panic trigger.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OA3 (Yellow LED):</a:t>
            </a:r>
            <a:r>
              <a:rPr lang="en-US" sz="1500"/>
              <a:t> Indicates </a:t>
            </a:r>
            <a:r>
              <a:rPr lang="en-US" sz="1500" b="1"/>
              <a:t>Travel/Security Mode</a:t>
            </a:r>
            <a:r>
              <a:rPr lang="en-US" sz="1500"/>
              <a:t>; the system is in a high-sensitivity state for long-term protection.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OA0 (Blue LED):</a:t>
            </a:r>
            <a:r>
              <a:rPr lang="en-US" sz="1500"/>
              <a:t> </a:t>
            </a:r>
            <a:r>
              <a:rPr lang="en-US" sz="1500" b="1"/>
              <a:t>Silent Alarm Indicator</a:t>
            </a:r>
            <a:r>
              <a:rPr lang="en-US" sz="1500"/>
              <a:t>; provides a visual-only notification when the audible buzzer is toggled off via Silent Mode.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OA7 (Audible Buzzer):</a:t>
            </a:r>
            <a:r>
              <a:rPr lang="en-US" sz="1500"/>
              <a:t> Provides the </a:t>
            </a:r>
            <a:r>
              <a:rPr lang="en-US" sz="1500" b="1"/>
              <a:t>Acoustic Warning</a:t>
            </a:r>
            <a:r>
              <a:rPr lang="en-US" sz="1500"/>
              <a:t>; sounds during Emergency or Security breaches to alert the surroundings.</a:t>
            </a:r>
          </a:p>
        </p:txBody>
      </p:sp>
      <p:pic>
        <p:nvPicPr>
          <p:cNvPr id="7" name="Picture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49F87D82-559E-F57D-60D4-46ADAE3845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65" t="8196" r="21815" b="-19"/>
          <a:stretch>
            <a:fillRect/>
          </a:stretch>
        </p:blipFill>
        <p:spPr>
          <a:xfrm>
            <a:off x="6099048" y="1421722"/>
            <a:ext cx="5458968" cy="401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16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D3E0-8F29-F6F1-9CDE-85246563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800"/>
            <a:ext cx="5836920" cy="115824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1. Visual Feedback Green LED (Safe State):</a:t>
            </a:r>
            <a:endParaRPr lang="ar-S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E33F94-9F8B-D10C-12AF-932C95D5B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" y="3704269"/>
            <a:ext cx="8192643" cy="776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04A6D0-41EA-01EF-328B-C0564F8CD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954200"/>
            <a:ext cx="6744641" cy="657317"/>
          </a:xfrm>
          <a:prstGeom prst="rect">
            <a:avLst/>
          </a:prstGeom>
        </p:spPr>
      </p:pic>
      <p:pic>
        <p:nvPicPr>
          <p:cNvPr id="9" name="Picture 8" descr="A close-up of a text&#10;&#10;AI-generated content may be incorrect.">
            <a:extLst>
              <a:ext uri="{FF2B5EF4-FFF2-40B4-BE49-F238E27FC236}">
                <a16:creationId xmlns:a16="http://schemas.microsoft.com/office/drawing/2014/main" id="{E28A47EA-5DFF-7441-5533-8CBA6ADDE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0" y="2005999"/>
            <a:ext cx="6154009" cy="9609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graph with lines and a green rectangle&#10;&#10;AI-generated content may be incorrect.">
            <a:extLst>
              <a:ext uri="{FF2B5EF4-FFF2-40B4-BE49-F238E27FC236}">
                <a16:creationId xmlns:a16="http://schemas.microsoft.com/office/drawing/2014/main" id="{B9D70192-9AF3-D6B6-A45C-2A359FDC0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105" y="1299864"/>
            <a:ext cx="1609950" cy="1667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3383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1B4A-8A86-7A75-3958-D105DD5B6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415925"/>
            <a:ext cx="5257800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2. Visual Feedback </a:t>
            </a:r>
            <a:br>
              <a:rPr lang="en-US" sz="3200" b="1" dirty="0"/>
            </a:br>
            <a:r>
              <a:rPr lang="en-US" sz="3200" b="1" dirty="0"/>
              <a:t> Red LED (Emergency Alert)</a:t>
            </a:r>
            <a:r>
              <a:rPr lang="ar-SA" sz="3200" b="1" dirty="0"/>
              <a:t>:</a:t>
            </a:r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98F36849-74B9-7BD3-7EE2-00DE90B9F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499" y="1354025"/>
            <a:ext cx="1867161" cy="1609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086825-1ABC-91D3-561B-746E8333B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57" y="5038950"/>
            <a:ext cx="8316486" cy="8287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CFFA60-23A3-7BAF-6746-40178241B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10" y="4012080"/>
            <a:ext cx="7916380" cy="800212"/>
          </a:xfrm>
          <a:prstGeom prst="rect">
            <a:avLst/>
          </a:prstGeom>
        </p:spPr>
      </p:pic>
      <p:pic>
        <p:nvPicPr>
          <p:cNvPr id="11" name="Picture 10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4CE0B279-E8B3-65C2-0C65-10EC88BA9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567" y="1686653"/>
            <a:ext cx="7563906" cy="20987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6540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32E2-E3E0-5B4C-95C5-6700436A4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8396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3. Visual Feedback Yellow LED (Security/Travel Mode)</a:t>
            </a:r>
            <a:r>
              <a:rPr lang="ar-SA" sz="3600" b="1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C0B05-ABE6-14F2-7F39-C5804B084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155" y="5020581"/>
            <a:ext cx="7840169" cy="657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6ED2FE-D75E-33FB-5D63-CA26DD38D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272" y="3841375"/>
            <a:ext cx="7849695" cy="647790"/>
          </a:xfrm>
          <a:prstGeom prst="rect">
            <a:avLst/>
          </a:prstGeom>
        </p:spPr>
      </p:pic>
      <p:pic>
        <p:nvPicPr>
          <p:cNvPr id="9" name="Picture 8" descr="A white background with green text&#10;&#10;AI-generated content may be incorrect.">
            <a:extLst>
              <a:ext uri="{FF2B5EF4-FFF2-40B4-BE49-F238E27FC236}">
                <a16:creationId xmlns:a16="http://schemas.microsoft.com/office/drawing/2014/main" id="{4D65B1B4-52C5-86D6-1CCD-E48350EC8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272" y="2318294"/>
            <a:ext cx="6839905" cy="895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245D6D04-0744-C9FA-EACF-B854BD1A30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0187" y="640903"/>
            <a:ext cx="1724266" cy="1857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1425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B3DD-FC80-C5F4-D44E-498F964CC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4812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4. Visual Feedback: Blue LED (Silent Alarm)</a:t>
            </a:r>
            <a:endParaRPr lang="ar-SA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98D82-8F03-1033-46AC-FAC36C7C3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05" y="3802592"/>
            <a:ext cx="6725589" cy="743054"/>
          </a:xfrm>
          <a:prstGeom prst="rect">
            <a:avLst/>
          </a:prstGeom>
        </p:spPr>
      </p:pic>
      <p:pic>
        <p:nvPicPr>
          <p:cNvPr id="7" name="Picture 6" descr="A close-up of a code&#10;&#10;AI-generated content may be incorrect.">
            <a:extLst>
              <a:ext uri="{FF2B5EF4-FFF2-40B4-BE49-F238E27FC236}">
                <a16:creationId xmlns:a16="http://schemas.microsoft.com/office/drawing/2014/main" id="{1EC16F8E-D04C-D01E-D2F9-DE79143D5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24" y="2108376"/>
            <a:ext cx="6249272" cy="1276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AD9125-06F4-FD2D-9835-523DBCB6D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05" y="4963334"/>
            <a:ext cx="7650315" cy="628738"/>
          </a:xfrm>
          <a:prstGeom prst="rect">
            <a:avLst/>
          </a:prstGeom>
        </p:spPr>
      </p:pic>
      <p:pic>
        <p:nvPicPr>
          <p:cNvPr id="11" name="Picture 10" descr="A graph with lines and a blue and black rectangle&#10;&#10;AI-generated content may be incorrect.">
            <a:extLst>
              <a:ext uri="{FF2B5EF4-FFF2-40B4-BE49-F238E27FC236}">
                <a16:creationId xmlns:a16="http://schemas.microsoft.com/office/drawing/2014/main" id="{5D5B1ACA-ADC2-00CE-B216-3F080C64D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394" y="1122552"/>
            <a:ext cx="1581371" cy="1829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2026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F3EA0-19D4-AC4F-9AC8-815D5CB7E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Audio Output: The Buzzer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3E4D9A-AA2D-ADD0-0A6C-D9EFF3F73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27" y="5297690"/>
            <a:ext cx="8876716" cy="726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A2B4AC-9594-3DDC-12B9-DA0769D6C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27" y="3647886"/>
            <a:ext cx="9060965" cy="9749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69B801-CEC3-43C2-8913-7A60E350D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27" y="2569120"/>
            <a:ext cx="7639985" cy="4038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942DF2-C75B-E124-9982-42A970435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9523" y="2035786"/>
            <a:ext cx="2048161" cy="12670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C664EA-B360-9976-73B6-F52BD1C02BF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" t="9059" r="1564" b="12500"/>
          <a:stretch>
            <a:fillRect/>
          </a:stretch>
        </p:blipFill>
        <p:spPr>
          <a:xfrm>
            <a:off x="9649900" y="3429000"/>
            <a:ext cx="2147405" cy="1158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0903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892B2-62ED-3831-7074-3273C1973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6. Serial Data Output: ASCII Status (Port OD)</a:t>
            </a:r>
            <a:br>
              <a:rPr lang="en-GB" b="1" dirty="0"/>
            </a:br>
            <a:endParaRPr lang="ar-S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14B082-DA37-1D00-4769-02B8C6E10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592" y="3633518"/>
            <a:ext cx="9302354" cy="706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910810-9444-FF00-50AE-BFA4FAE70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92" y="2441949"/>
            <a:ext cx="9121162" cy="8487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F0D85B-7576-228B-FBA8-ADD8785CF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92" y="1690688"/>
            <a:ext cx="9355511" cy="2744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computer circuit board with numbers and lines&#10;&#10;AI-generated content may be incorrect.">
            <a:extLst>
              <a:ext uri="{FF2B5EF4-FFF2-40B4-BE49-F238E27FC236}">
                <a16:creationId xmlns:a16="http://schemas.microsoft.com/office/drawing/2014/main" id="{92B85619-B804-5CD8-9959-6528DE5D1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335" y="4340314"/>
            <a:ext cx="2705478" cy="1886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9679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129A5-9847-DF18-7B2B-4F66339B5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1228F-94DC-7005-B78D-ABCE30FB7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Serial Communication (Remote Interface):</a:t>
            </a:r>
            <a:br>
              <a:rPr lang="en-GB" b="1" dirty="0"/>
            </a:br>
            <a:endParaRPr lang="ar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8514B-8C88-72BD-64F9-C381004A1E30}"/>
              </a:ext>
            </a:extLst>
          </p:cNvPr>
          <p:cNvSpPr txBox="1"/>
          <p:nvPr/>
        </p:nvSpPr>
        <p:spPr>
          <a:xfrm>
            <a:off x="436880" y="1784479"/>
            <a:ext cx="72948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ASTX (Serial Transmitter):</a:t>
            </a:r>
            <a:r>
              <a:rPr lang="en-US" sz="2400" dirty="0"/>
              <a:t> Responsible for sending system status data to a remote terminal. It converts the 8-bit parallel data from the </a:t>
            </a:r>
            <a:r>
              <a:rPr lang="en-US" sz="2400" b="1" dirty="0"/>
              <a:t>OD Port</a:t>
            </a:r>
            <a:r>
              <a:rPr lang="en-US" sz="2400" dirty="0"/>
              <a:t> into a serial bitstream.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ASRX (Serial Receiver):</a:t>
            </a:r>
            <a:r>
              <a:rPr lang="en-US" sz="2400" dirty="0"/>
              <a:t> Responsible for receiving incoming serial data. In this system, it can be used to monitor the status characters ('G', 'E', 'S') sent by the controller.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RDY Signal (Handshaking):</a:t>
            </a:r>
            <a:r>
              <a:rPr lang="en-US" sz="2400" dirty="0"/>
              <a:t> A feedback signal from the transmitter to the CPU (connected to </a:t>
            </a:r>
            <a:r>
              <a:rPr lang="en-US" sz="2400" b="1" dirty="0"/>
              <a:t>ID0</a:t>
            </a:r>
            <a:r>
              <a:rPr lang="en-US" sz="2400" dirty="0"/>
              <a:t>). It tells the processor to wait until the transmitter is ready to send the next character, preventing data loss.</a:t>
            </a:r>
          </a:p>
        </p:txBody>
      </p:sp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32169278-02A6-B205-6B6E-5C1A5AA9E3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876"/>
          <a:stretch>
            <a:fillRect/>
          </a:stretch>
        </p:blipFill>
        <p:spPr>
          <a:xfrm>
            <a:off x="7578291" y="2413752"/>
            <a:ext cx="4176829" cy="20304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3393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AD43-453A-7497-186B-C0D70E66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1DDF-283A-9384-805F-A6A39F78E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Serial Communication (Remote Interface) 2:</a:t>
            </a:r>
            <a:br>
              <a:rPr lang="en-GB" b="1" dirty="0"/>
            </a:br>
            <a:endParaRPr lang="ar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1D223-4C3A-9383-4600-4AD0B6507AF7}"/>
              </a:ext>
            </a:extLst>
          </p:cNvPr>
          <p:cNvSpPr txBox="1"/>
          <p:nvPr/>
        </p:nvSpPr>
        <p:spPr>
          <a:xfrm>
            <a:off x="838200" y="1786096"/>
            <a:ext cx="79146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Status Codes (ASCII):</a:t>
            </a:r>
            <a:r>
              <a:rPr lang="en-US" sz="3200" dirty="0"/>
              <a:t> The system transmits specific letters to represent the current state: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 dirty="0"/>
              <a:t>'G' (47h)(</a:t>
            </a:r>
            <a:r>
              <a:rPr lang="ar-SA" sz="3200" dirty="0"/>
              <a:t>01000111</a:t>
            </a:r>
            <a:r>
              <a:rPr lang="en-US" sz="3200" dirty="0"/>
              <a:t>)</a:t>
            </a:r>
            <a:r>
              <a:rPr lang="en-US" sz="3200" b="1" dirty="0"/>
              <a:t>:</a:t>
            </a:r>
            <a:r>
              <a:rPr lang="en-US" sz="3200" dirty="0"/>
              <a:t> System is Good/Safe.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 dirty="0"/>
              <a:t>'E' (45h)(</a:t>
            </a:r>
            <a:r>
              <a:rPr lang="ar-SA" sz="3200" dirty="0"/>
              <a:t>01000101</a:t>
            </a:r>
            <a:r>
              <a:rPr lang="en-US" sz="3200" dirty="0"/>
              <a:t>)</a:t>
            </a:r>
            <a:r>
              <a:rPr lang="en-US" sz="3200" b="1" dirty="0"/>
              <a:t>:</a:t>
            </a:r>
            <a:r>
              <a:rPr lang="en-US" sz="3200" dirty="0"/>
              <a:t> Emergency alert detected.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 dirty="0"/>
              <a:t>'S' (53h)(</a:t>
            </a:r>
            <a:r>
              <a:rPr lang="ar-SA" sz="3200" dirty="0"/>
              <a:t>01010011</a:t>
            </a:r>
            <a:r>
              <a:rPr lang="en-US" sz="3200" dirty="0"/>
              <a:t>)</a:t>
            </a:r>
            <a:r>
              <a:rPr lang="en-US" sz="3200" b="1" dirty="0"/>
              <a:t>:</a:t>
            </a:r>
            <a:r>
              <a:rPr lang="en-US" sz="3200" dirty="0"/>
              <a:t> Security/Travel mode active.</a:t>
            </a:r>
          </a:p>
        </p:txBody>
      </p:sp>
      <p:pic>
        <p:nvPicPr>
          <p:cNvPr id="6" name="Picture 5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D727A3CE-49ED-142E-B21E-F981B445E9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298"/>
          <a:stretch>
            <a:fillRect/>
          </a:stretch>
        </p:blipFill>
        <p:spPr>
          <a:xfrm>
            <a:off x="9204960" y="2198319"/>
            <a:ext cx="1890457" cy="3010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1477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3FA50-8648-44AF-C4BB-1760B08A7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FC3D-7D85-1CEB-D031-8A54C3B4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State Machine Logic (Decision Making)</a:t>
            </a:r>
            <a:br>
              <a:rPr lang="en-US" b="1" dirty="0"/>
            </a:br>
            <a:endParaRPr lang="ar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55D4E0-287B-9ED0-31CD-B9866A2F1AA1}"/>
              </a:ext>
            </a:extLst>
          </p:cNvPr>
          <p:cNvSpPr txBox="1"/>
          <p:nvPr/>
        </p:nvSpPr>
        <p:spPr>
          <a:xfrm>
            <a:off x="838200" y="1473260"/>
            <a:ext cx="71170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The system doesn't just run line by line; it "decides" which mode to enter based on input priority: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Bit Testing:</a:t>
            </a:r>
            <a:r>
              <a:rPr lang="en-US" sz="2400" dirty="0"/>
              <a:t> The CPU uses the </a:t>
            </a:r>
            <a:r>
              <a:rPr lang="en-US" sz="2400" dirty="0">
                <a:latin typeface="Courier New" panose="02070309020205020404" pitchFamily="49" charset="0"/>
              </a:rPr>
              <a:t>BIT</a:t>
            </a:r>
            <a:r>
              <a:rPr lang="en-US" sz="2400" dirty="0"/>
              <a:t> instruction to constantly poll (check) the status of the input pins.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Conditional Jumping:</a:t>
            </a:r>
            <a:r>
              <a:rPr lang="en-US" sz="2400" dirty="0"/>
              <a:t> Depending on the results, the system uses </a:t>
            </a:r>
            <a:r>
              <a:rPr lang="en-US" sz="2400" dirty="0">
                <a:latin typeface="Courier New" panose="02070309020205020404" pitchFamily="49" charset="0"/>
              </a:rPr>
              <a:t>JP NZ</a:t>
            </a:r>
            <a:r>
              <a:rPr lang="en-US" sz="2400" dirty="0"/>
              <a:t> (Jump if Not Zero) to switch states: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Normal Path:</a:t>
            </a:r>
            <a:r>
              <a:rPr lang="en-US" sz="2400" dirty="0"/>
              <a:t> Stays in a loop checking for activity.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Emergency Path:</a:t>
            </a:r>
            <a:r>
              <a:rPr lang="en-US" sz="2400" dirty="0"/>
              <a:t> Overrides all functions if IA0 is triggered.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Security Path:</a:t>
            </a:r>
            <a:r>
              <a:rPr lang="en-US" sz="2400" dirty="0"/>
              <a:t> Enters the monitoring state if IA1 is active.</a:t>
            </a:r>
          </a:p>
        </p:txBody>
      </p:sp>
      <p:pic>
        <p:nvPicPr>
          <p:cNvPr id="6" name="Picture 5" descr="A computer code with text&#10;&#10;AI-generated content may be incorrect.">
            <a:extLst>
              <a:ext uri="{FF2B5EF4-FFF2-40B4-BE49-F238E27FC236}">
                <a16:creationId xmlns:a16="http://schemas.microsoft.com/office/drawing/2014/main" id="{389CCA04-0985-A755-5185-CBB9269D3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592" y="2610042"/>
            <a:ext cx="4288358" cy="16379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6623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F9B82-EE71-CB33-A3CA-EE68BA636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91D2-0E97-C496-4740-AC8D2AD97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Security Protocol (The Digital Lock)</a:t>
            </a:r>
            <a:br>
              <a:rPr lang="en-US" b="1" dirty="0"/>
            </a:br>
            <a:endParaRPr lang="ar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A3E409-F022-4D2C-255D-7E14563FB82E}"/>
              </a:ext>
            </a:extLst>
          </p:cNvPr>
          <p:cNvSpPr txBox="1"/>
          <p:nvPr/>
        </p:nvSpPr>
        <p:spPr>
          <a:xfrm>
            <a:off x="838200" y="1690688"/>
            <a:ext cx="75387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Explain how the system verifies the user’s identity before disarming the alarm: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Input Isolation (AND Masking):</a:t>
            </a:r>
            <a:r>
              <a:rPr lang="en-US" sz="2400" dirty="0"/>
              <a:t> To read the passcode from </a:t>
            </a:r>
            <a:r>
              <a:rPr lang="en-US" sz="2400" b="1" dirty="0"/>
              <a:t>IA2–IA5</a:t>
            </a:r>
            <a:r>
              <a:rPr lang="en-US" sz="2400" dirty="0"/>
              <a:t>, the CPU uses </a:t>
            </a:r>
            <a:r>
              <a:rPr lang="en-US" sz="2400" dirty="0">
                <a:latin typeface="Courier New" panose="02070309020205020404" pitchFamily="49" charset="0"/>
              </a:rPr>
              <a:t>AND 3Ch</a:t>
            </a:r>
            <a:r>
              <a:rPr lang="en-US" sz="2400" dirty="0"/>
              <a:t>. This ignores all other switches and only focuses on the 4-bit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Comparison Logic (CP Instruction):</a:t>
            </a:r>
            <a:r>
              <a:rPr lang="en-US" sz="2400" dirty="0"/>
              <a:t> The instruction </a:t>
            </a:r>
            <a:r>
              <a:rPr lang="en-US" sz="2400" dirty="0">
                <a:latin typeface="Courier New" panose="02070309020205020404" pitchFamily="49" charset="0"/>
              </a:rPr>
              <a:t>CP 14h</a:t>
            </a:r>
            <a:r>
              <a:rPr lang="en-US" sz="2400" dirty="0"/>
              <a:t> compares the user’s input directly with the hardcoded secret value (</a:t>
            </a:r>
            <a:r>
              <a:rPr lang="en-US" sz="2400" b="1" dirty="0"/>
              <a:t>14h</a:t>
            </a:r>
            <a:r>
              <a:rPr lang="en-US" sz="24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Validation:</a:t>
            </a:r>
            <a:r>
              <a:rPr lang="en-US" sz="2400" dirty="0"/>
              <a:t> * If the result is a match (</a:t>
            </a:r>
            <a:r>
              <a:rPr lang="en-US" sz="2400" b="1" dirty="0"/>
              <a:t>Zero Flag set</a:t>
            </a:r>
            <a:r>
              <a:rPr lang="en-US" sz="2400" dirty="0"/>
              <a:t>), the system jumps to </a:t>
            </a:r>
            <a:r>
              <a:rPr lang="en-US" sz="2400" dirty="0">
                <a:latin typeface="Courier New" panose="02070309020205020404" pitchFamily="49" charset="0"/>
              </a:rPr>
              <a:t>START</a:t>
            </a:r>
            <a:r>
              <a:rPr lang="en-US" sz="2400" dirty="0"/>
              <a:t> to reset the alarm.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If the result is wrong, it remains in the </a:t>
            </a:r>
            <a:r>
              <a:rPr lang="en-US" sz="2400" dirty="0">
                <a:latin typeface="Courier New" panose="02070309020205020404" pitchFamily="49" charset="0"/>
              </a:rPr>
              <a:t>CHECK_AGAIN</a:t>
            </a:r>
            <a:r>
              <a:rPr lang="en-US" sz="2400" dirty="0"/>
              <a:t> loop, keeping the alarm active.</a:t>
            </a:r>
          </a:p>
        </p:txBody>
      </p:sp>
      <p:pic>
        <p:nvPicPr>
          <p:cNvPr id="6" name="Picture 5" descr="A close up of words&#10;&#10;AI-generated content may be incorrect.">
            <a:extLst>
              <a:ext uri="{FF2B5EF4-FFF2-40B4-BE49-F238E27FC236}">
                <a16:creationId xmlns:a16="http://schemas.microsoft.com/office/drawing/2014/main" id="{57BCB24D-0334-D1AE-E337-75712440F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814" y="2602343"/>
            <a:ext cx="3125606" cy="16533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3430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0DC7-458E-3CCB-A1D5-21FA90EB8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4330C849-F744-0615-3128-A6CFB6582B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465224"/>
            <a:ext cx="799084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Multi-State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distinct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Travel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Silent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audible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indicators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Passcode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lock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mechanism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4-bit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passcode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(14h)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bitwise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Dual-Layer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via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multi-colored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audible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Siren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comprehensive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Selective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Alerting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Silent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dedicated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Silent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Alarm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LED)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toggled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via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IA7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discrete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sounding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Serial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(TX/RX)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transmit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ASCII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'G', 'E', 'S'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Reliable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Handshaking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RDY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synchronize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CPU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transmission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75AF615-7AEE-DE7D-BBA0-2E7D75A9E22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System Key Features:</a:t>
            </a:r>
          </a:p>
        </p:txBody>
      </p:sp>
      <p:pic>
        <p:nvPicPr>
          <p:cNvPr id="5126" name="Picture 6" descr="جهاز إنذار منزلي مربوط بالهاتف النقال — Naharnet">
            <a:extLst>
              <a:ext uri="{FF2B5EF4-FFF2-40B4-BE49-F238E27FC236}">
                <a16:creationId xmlns:a16="http://schemas.microsoft.com/office/drawing/2014/main" id="{EFD751B8-618E-2051-BC4B-18E2BEA04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9040" y="2607907"/>
            <a:ext cx="2881884" cy="2101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86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FF1E2-9686-2D76-2104-042C46C9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DA39F3F5-17A9-B07A-5694-2A8F05BA9A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32"/>
          <a:stretch>
            <a:fillRect/>
          </a:stretch>
        </p:blipFill>
        <p:spPr>
          <a:xfrm>
            <a:off x="457200" y="457206"/>
            <a:ext cx="11277600" cy="594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25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D7EB98-B380-0629-F08A-0BE4D156A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A94109-15CD-D2F5-078D-FC25E5CECC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24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7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EFA7A-0F76-E1B0-018C-BBCF76774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EBBF15-31AA-238E-EC22-A6EE6C69D3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98" b="69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94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966</Words>
  <Application>Microsoft Office PowerPoint</Application>
  <PresentationFormat>Widescreen</PresentationFormat>
  <Paragraphs>64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Input Ports:</vt:lpstr>
      <vt:lpstr>IA0: Emergency Button</vt:lpstr>
      <vt:lpstr>2. IA1: Travel Mode Explanation </vt:lpstr>
      <vt:lpstr>2. IA2–IA5: Security Code (SecCODE)</vt:lpstr>
      <vt:lpstr>3. IA7: Silent Mode </vt:lpstr>
      <vt:lpstr>4. Data Acquisition: </vt:lpstr>
      <vt:lpstr>Output Ports: </vt:lpstr>
      <vt:lpstr>1. Visual Feedback Green LED (Safe State):</vt:lpstr>
      <vt:lpstr>2. Visual Feedback   Red LED (Emergency Alert):</vt:lpstr>
      <vt:lpstr>3. Visual Feedback Yellow LED (Security/Travel Mode):</vt:lpstr>
      <vt:lpstr>4. Visual Feedback: Blue LED (Silent Alarm)</vt:lpstr>
      <vt:lpstr>5. Audio Output: The Buzzer</vt:lpstr>
      <vt:lpstr>6. Serial Data Output: ASCII Status (Port OD) </vt:lpstr>
      <vt:lpstr>Serial Communication (Remote Interface): </vt:lpstr>
      <vt:lpstr>Serial Communication (Remote Interface) 2: </vt:lpstr>
      <vt:lpstr>State Machine Logic (Decision Making) </vt:lpstr>
      <vt:lpstr>The Security Protocol (The Digital Lock) </vt:lpstr>
      <vt:lpstr>Multi-State Monitoring: Offers four distinct operational modes: Safe, Emergency, Security (Travel), and Silent, each with unique visual and audible indicators. Secure Passcode Verification: Implements a digital lock mechanism that requires a specific 4-bit passcode (14h), verified through bitwise AND masking and logical comparison. Dual-Layer Alert System: Combines visual notifications via multi-colored LEDs with an audible Siren (Buzzer) for comprehensive user alerting. Selective Alerting (Silent Mode): Features a dedicated Silent Alarm (Blue LED) that can be toggled via hardware switch (IA7) to provide discrete notifications without sounding the buzzer. Real-Time Status Reporting: Utilizes Serial Communication (TX/RX) to transmit ASCII status codes ('G', 'E', 'S') for remote monitoring and system tracking. Reliable Hardware Handshaking: Integrates a RDY signal to synchronize the CPU with the transmission module, preventing data loss during communication.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ABDELGHAFAR ATIAH</dc:creator>
  <cp:lastModifiedBy>moha m</cp:lastModifiedBy>
  <cp:revision>2</cp:revision>
  <dcterms:created xsi:type="dcterms:W3CDTF">2026-01-05T12:09:20Z</dcterms:created>
  <dcterms:modified xsi:type="dcterms:W3CDTF">2026-01-05T15:49:18Z</dcterms:modified>
</cp:coreProperties>
</file>